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643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0"/>
            <a:ext cx="120243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8FAFC"/>
                </a:solidFill>
                <a:latin typeface="Calibri"/>
              </a:rPr>
              <a:t>Quantum Computer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8BDF8"/>
                </a:solidFill>
                <a:latin typeface="Calibri"/>
              </a:rPr>
              <a:t>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94A3B8"/>
                </a:solidFill>
                <a:latin typeface="Calibri"/>
              </a:rPr>
              <a:t>CS525</a:t>
            </a:r>
            <a:r>
              <a:rPr lang="en-US" sz="2200" b="0" i="0" dirty="0">
                <a:solidFill>
                  <a:srgbClr val="94A3B8"/>
                </a:solidFill>
                <a:latin typeface="Calibri"/>
              </a:rPr>
              <a:t>0</a:t>
            </a:r>
            <a:r>
              <a:rPr sz="2200" b="0" i="0" dirty="0">
                <a:solidFill>
                  <a:srgbClr val="94A3B8"/>
                </a:solidFill>
                <a:latin typeface="Calibri"/>
              </a:rPr>
              <a:t>  </a:t>
            </a:r>
            <a:r>
              <a:rPr lang="en-US" sz="22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2200" b="0" i="0" dirty="0">
                <a:solidFill>
                  <a:srgbClr val="94A3B8"/>
                </a:solidFill>
                <a:latin typeface="Calibri"/>
              </a:rPr>
              <a:t>  Spring 2026  </a:t>
            </a:r>
            <a:r>
              <a:rPr lang="en-US" sz="22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2200" b="0" i="0" dirty="0">
                <a:solidFill>
                  <a:srgbClr val="94A3B8"/>
                </a:solidFill>
                <a:latin typeface="Calibri"/>
              </a:rPr>
              <a:t>  Final Project</a:t>
            </a:r>
            <a:r>
              <a:rPr lang="en-US" sz="2200" dirty="0">
                <a:solidFill>
                  <a:srgbClr val="94A3B8"/>
                </a:solidFill>
              </a:rPr>
              <a:t> | Eric Trinh</a:t>
            </a:r>
            <a:endParaRPr sz="22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94A3B8"/>
                </a:solidFill>
                <a:latin typeface="Calibri"/>
              </a:rPr>
              <a:t>State-vector simulation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/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12 gate types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/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5 quantum algorithms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/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</a:t>
            </a:r>
            <a:r>
              <a:rPr sz="1800" b="0" i="0" dirty="0" err="1">
                <a:solidFill>
                  <a:srgbClr val="94A3B8"/>
                </a:solidFill>
                <a:latin typeface="Calibri"/>
              </a:rPr>
              <a:t>numpy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38BDF8"/>
                </a:solidFill>
                <a:latin typeface="Calibri"/>
              </a:rPr>
              <a:t>01  </a:t>
            </a:r>
            <a:r>
              <a:rPr sz="2800" b="1" i="0" dirty="0">
                <a:solidFill>
                  <a:srgbClr val="F8FAFC"/>
                </a:solidFill>
                <a:latin typeface="Calibri"/>
              </a:rPr>
              <a:t>Classical vs Quantum Computing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What makes qubits fundamentally different</a:t>
            </a:r>
          </a:p>
          <a:p>
            <a:pPr algn="l">
              <a:spcBef>
                <a:spcPts val="600"/>
              </a:spcBef>
            </a:pPr>
            <a:r>
              <a:rPr sz="2800" b="1" i="0" dirty="0">
                <a:solidFill>
                  <a:srgbClr val="38BDF8"/>
                </a:solidFill>
                <a:latin typeface="Calibri"/>
              </a:rPr>
              <a:t>02  </a:t>
            </a:r>
            <a:r>
              <a:rPr sz="2800" b="1" i="0" dirty="0">
                <a:solidFill>
                  <a:srgbClr val="F8FAFC"/>
                </a:solidFill>
                <a:latin typeface="Calibri"/>
              </a:rPr>
              <a:t>Qubits &amp; Superposition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State vectors, amplitudes, the Born rule</a:t>
            </a:r>
          </a:p>
          <a:p>
            <a:pPr algn="l">
              <a:spcBef>
                <a:spcPts val="600"/>
              </a:spcBef>
            </a:pPr>
            <a:r>
              <a:rPr sz="2800" b="1" i="0" dirty="0">
                <a:solidFill>
                  <a:srgbClr val="38BDF8"/>
                </a:solidFill>
                <a:latin typeface="Calibri"/>
              </a:rPr>
              <a:t>03  </a:t>
            </a:r>
            <a:r>
              <a:rPr sz="2800" b="1" i="0" dirty="0">
                <a:solidFill>
                  <a:srgbClr val="F8FAFC"/>
                </a:solidFill>
                <a:latin typeface="Calibri"/>
              </a:rPr>
              <a:t>Quantum Gates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Unitary matrices as reversible operations</a:t>
            </a:r>
          </a:p>
          <a:p>
            <a:pPr algn="l">
              <a:spcBef>
                <a:spcPts val="600"/>
              </a:spcBef>
            </a:pPr>
            <a:r>
              <a:rPr sz="2800" b="1" i="0" dirty="0">
                <a:solidFill>
                  <a:srgbClr val="38BDF8"/>
                </a:solidFill>
                <a:latin typeface="Calibri"/>
              </a:rPr>
              <a:t>04  </a:t>
            </a:r>
            <a:r>
              <a:rPr sz="2800" b="1" i="0" dirty="0">
                <a:solidFill>
                  <a:srgbClr val="F8FAFC"/>
                </a:solidFill>
                <a:latin typeface="Calibri"/>
              </a:rPr>
              <a:t>Simulator Architecture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Kronecker products, projection, collapse</a:t>
            </a:r>
          </a:p>
          <a:p>
            <a:pPr algn="l">
              <a:spcBef>
                <a:spcPts val="600"/>
              </a:spcBef>
            </a:pPr>
            <a:r>
              <a:rPr sz="2800" b="1" i="0" dirty="0">
                <a:solidFill>
                  <a:srgbClr val="38BDF8"/>
                </a:solidFill>
                <a:latin typeface="Calibri"/>
              </a:rPr>
              <a:t>05  </a:t>
            </a:r>
            <a:r>
              <a:rPr sz="2800" b="1" i="0" dirty="0">
                <a:solidFill>
                  <a:srgbClr val="F8FAFC"/>
                </a:solidFill>
                <a:latin typeface="Calibri"/>
              </a:rPr>
              <a:t>Five Quantum Algorithms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Bell states → Grover's search</a:t>
            </a:r>
          </a:p>
          <a:p>
            <a:pPr algn="l">
              <a:spcBef>
                <a:spcPts val="600"/>
              </a:spcBef>
            </a:pPr>
            <a:r>
              <a:rPr sz="2800" b="1" i="0" dirty="0">
                <a:solidFill>
                  <a:srgbClr val="38BDF8"/>
                </a:solidFill>
                <a:latin typeface="Calibri"/>
              </a:rPr>
              <a:t>06  </a:t>
            </a:r>
            <a:r>
              <a:rPr sz="2800" b="1" i="0" dirty="0">
                <a:solidFill>
                  <a:srgbClr val="F8FAFC"/>
                </a:solidFill>
                <a:latin typeface="Calibri"/>
              </a:rPr>
              <a:t>Live Demo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 </a:t>
            </a:r>
            <a:r>
              <a:rPr lang="en-US" sz="1800" b="0" i="0" dirty="0">
                <a:solidFill>
                  <a:srgbClr val="94A3B8"/>
                </a:solidFill>
                <a:latin typeface="Calibri"/>
              </a:rPr>
              <a:t>|</a:t>
            </a:r>
            <a:r>
              <a:rPr sz="1800" b="0" i="0" dirty="0">
                <a:solidFill>
                  <a:srgbClr val="94A3B8"/>
                </a:solidFill>
                <a:latin typeface="Calibri"/>
              </a:rPr>
              <a:t>  Running the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The Qubit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Calibri"/>
              </a:rPr>
              <a:t>Classical bit: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always exactly 0 or 1.</a:t>
            </a:r>
          </a:p>
          <a:p>
            <a:pPr algn="l"/>
            <a:r>
              <a:rPr sz="2100" b="1" i="0">
                <a:solidFill>
                  <a:srgbClr val="38BDF8"/>
                </a:solidFill>
                <a:latin typeface="Calibri"/>
              </a:rPr>
              <a:t>Qubit: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exists in superposition before measurement.</a:t>
            </a:r>
          </a:p>
          <a:p>
            <a:pPr algn="l"/>
            <a:endParaRPr sz="21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100" b="1" i="0">
                <a:solidFill>
                  <a:srgbClr val="FBBF24"/>
                </a:solidFill>
                <a:latin typeface="Calibri"/>
              </a:rPr>
              <a:t>State: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|\u03c8⟩ = α|0⟩ + β|1⟩</a:t>
            </a:r>
          </a:p>
          <a:p>
            <a:pPr algn="l"/>
            <a:endParaRPr sz="21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100" b="1" i="0">
                <a:solidFill>
                  <a:srgbClr val="34D399"/>
                </a:solidFill>
                <a:latin typeface="Calibri"/>
              </a:rPr>
              <a:t>Constraint: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|α|² + |β|² = 1</a:t>
            </a:r>
          </a:p>
          <a:p>
            <a:pPr algn="l"/>
            <a:endParaRPr sz="21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100" b="1" i="0">
                <a:solidFill>
                  <a:srgbClr val="F8FAFC"/>
                </a:solidFill>
                <a:latin typeface="Calibri"/>
              </a:rPr>
              <a:t>Measure →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0 with prob |α|²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       1 with prob |β|²</a:t>
            </a:r>
          </a:p>
          <a:p>
            <a:pPr algn="l"/>
            <a:endParaRPr sz="21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100" b="1" i="0">
                <a:solidFill>
                  <a:srgbClr val="FBBF24"/>
                </a:solidFill>
                <a:latin typeface="Calibri"/>
              </a:rPr>
              <a:t>Key point: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this is NOT classical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probability. The qubit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has no definite value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until measured.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17320"/>
            <a:ext cx="557784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27048"/>
            <a:ext cx="5212080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1 qubit -- complex vector of length 2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state = np.zeros(2, dtype=complex)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state[0] = 1.0     # |0&gt;  : amplitude = 1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After H gate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state[0] = 1/sqrt(2)   # amplitude of |0&gt;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state[1] = 1/sqrt(2)   # amplitude of |1&gt;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Prob of measuring 0: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prob_0 = abs(state[0])**2   # = 0.5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prob_1 = abs(state[1])**2   # = 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5720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The Bloch sphere is a geometric view of
the single-qubit state space.
Every point on the sphere is a valid qubit.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Multi-Qubit State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F8FAFC"/>
                </a:solidFill>
                <a:latin typeface="Calibri"/>
              </a:rPr>
              <a:t>n qubits → state lives in 2ⁿ-dimensional complex space.</a:t>
            </a:r>
          </a:p>
          <a:p>
            <a:pPr algn="l"/>
            <a:endParaRPr sz="23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100" b="0" i="0">
                <a:solidFill>
                  <a:srgbClr val="38BDF8"/>
                </a:solidFill>
                <a:latin typeface="Calibri"/>
              </a:rPr>
              <a:t>2 qubits (dim = 4):</a:t>
            </a:r>
          </a:p>
          <a:p>
            <a:pPr algn="l"/>
            <a:r>
              <a:rPr sz="2000" b="0" i="0">
                <a:solidFill>
                  <a:srgbClr val="F8FAFC"/>
                </a:solidFill>
                <a:latin typeface="Calibri"/>
              </a:rPr>
              <a:t>  |ψ⟩ = α₀₀|00⟩ + α₀₁|01⟩ + α₁₀|10⟩ + α₁₁|11⟩</a:t>
            </a:r>
          </a:p>
          <a:p>
            <a:pPr algn="l"/>
            <a:endParaRPr sz="20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100" b="0" i="0">
                <a:solidFill>
                  <a:srgbClr val="38BDF8"/>
                </a:solidFill>
                <a:latin typeface="Calibri"/>
              </a:rPr>
              <a:t>3 qubits (dim = 8):</a:t>
            </a:r>
          </a:p>
          <a:p>
            <a:pPr algn="l"/>
            <a:r>
              <a:rPr sz="2000" b="0" i="0">
                <a:solidFill>
                  <a:srgbClr val="F8FAFC"/>
                </a:solidFill>
                <a:latin typeface="Calibri"/>
              </a:rPr>
              <a:t>  Eight basis states: |000⟩ through |111⟩</a:t>
            </a:r>
          </a:p>
          <a:p>
            <a:pPr algn="l"/>
            <a:endParaRPr sz="20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BBF24"/>
                </a:solidFill>
                <a:latin typeface="Calibri"/>
              </a:rPr>
              <a:t>n = 50  →  2⁵⁰ ≈ 10¹⁵ amplitudes</a:t>
            </a:r>
          </a:p>
          <a:p>
            <a:pPr algn="l"/>
            <a:r>
              <a:rPr sz="2200" b="0" i="0">
                <a:solidFill>
                  <a:srgbClr val="FBBF24"/>
                </a:solidFill>
                <a:latin typeface="Calibri"/>
              </a:rPr>
              <a:t>n = 300 →  more amplitudes than atoms in universe</a:t>
            </a:r>
          </a:p>
          <a:p>
            <a:pPr algn="l"/>
            <a:endParaRPr sz="2200" b="0" i="0">
              <a:solidFill>
                <a:srgbClr val="FBBF24"/>
              </a:solidFill>
              <a:latin typeface="Calibri"/>
            </a:endParaRP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This exponential scaling is both the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power AND the simulation bottleneck.</a:t>
            </a:r>
          </a:p>
          <a:p>
            <a:pPr algn="l"/>
            <a:endParaRPr sz="21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Simulator limit: ~20 qubits (2²⁰ = 1M entries)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4805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14630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Calibri"/>
              </a:rPr>
              <a:t>Qubits → State Vector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Qubits 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Dim (2ⁿ)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Memory (complex128)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16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017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512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1,024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16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114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1,048,576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114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16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663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1,073,741,824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16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5212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2⁵⁰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5212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16 PB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760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100+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760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2¹⁰⁰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5760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∞ (impractical)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Quantum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Calibri"/>
              </a:rPr>
              <a:t>Every quantum gate is a unitary matrix.   U†U =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438912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Unitary ⇒ two guarantees:</a:t>
            </a:r>
          </a:p>
          <a:p>
            <a:pPr algn="l"/>
            <a:endParaRPr b="1" i="0" dirty="0">
              <a:solidFill>
                <a:srgbClr val="38BDF8"/>
              </a:solidFill>
              <a:latin typeface="Calibri"/>
            </a:endParaRP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1. Reversible — every gate has an inverse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2. Norm-preserving — probabilities sum to 1</a:t>
            </a:r>
          </a:p>
          <a:p>
            <a:pPr algn="l"/>
            <a:endParaRPr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Single-qubit gates: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H  (Hadamard)  —  superposition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X  (NOT)       —  bit flip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Z  (Phase)     —  phase flip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Y, S, T, Rx, Ry, Rz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Two-qubit gates: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CNOT  —  entanglement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CZ    —  controlled phase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Three-qubit gate: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Toffoli (CCX)  —  universal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783080"/>
            <a:ext cx="66751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892808"/>
            <a:ext cx="630936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Hadamard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H = (1/√2) * [[ 1,  1],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        [ 1, -1]]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|0&gt; -&gt; (|0&gt;+|1&gt;)/√2  (superposition)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|1&gt; -&gt; (|0&gt;-|1&gt;)/√2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Pauli-X (quantum NOT)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X = [[0, 1],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[1, 0]]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CNOT (creates entanglement)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CNOT = [[1, 0, 0, 0],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[0, 1, 0, 0],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[0, 0, 0, 1],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[0, 0, 1, 0]]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# Flips target qubit when control = |1&gt;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59893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4A3B8"/>
                </a:solidFill>
                <a:latin typeface="Calibri"/>
              </a:rPr>
              <a:t>H † H = I  —  H is its own inverse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Simulator: State Vector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The full n-qubit state is one complex</a:t>
            </a: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numpy array of length 2ⁿ.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Qubit 0 = most significant bit.</a:t>
            </a:r>
          </a:p>
          <a:p>
            <a:pPr algn="l"/>
            <a:endParaRPr sz="1900" b="0" i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Index i → basis state |i⟩ in binary.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000" b="0" i="0">
                <a:solidFill>
                  <a:srgbClr val="38BDF8"/>
                </a:solidFill>
                <a:latin typeface="Calibri"/>
              </a:rPr>
              <a:t>e.g. 3 qubits, index 5 = 101₂</a:t>
            </a:r>
          </a:p>
          <a:p>
            <a:pPr algn="l"/>
            <a:r>
              <a:rPr sz="2000" b="0" i="0">
                <a:solidFill>
                  <a:srgbClr val="38BDF8"/>
                </a:solidFill>
                <a:latin typeface="Calibri"/>
              </a:rPr>
              <a:t>  →  basis state |q₀=1, q₁=0, q₂=1⟩</a:t>
            </a:r>
          </a:p>
          <a:p>
            <a:pPr algn="l"/>
            <a:endParaRPr sz="2000" b="0" i="0">
              <a:solidFill>
                <a:srgbClr val="38BDF8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Applying a gate =</a:t>
            </a: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  matrix × vector multiply.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For n=20 qubits:</a:t>
            </a: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  array of 1,048,576 complex numbers</a:t>
            </a: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  ≈ 16 MB 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417320"/>
            <a:ext cx="58521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527048"/>
            <a:ext cx="5486400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class QuantumCircuit: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def __init__(self, num_qubits):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self.num_qubits = num_qubits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self._dim = 2 ** num_qubits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# State vector: 2^n complex amplitudes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self.state = np.zeros(self._dim, dtype=complex)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self.state[0] = 1.0  # start in |00...0&gt;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def _apply(self, matrix):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# Gate application = matrix-vector product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      self.state = matrix @ self.state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43484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The state vector is the complete description of the system.
There are no hidden variables — this IS the quantum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Simulator: Applying Gates (Kronecker Products)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A 2×2 gate acts on one qubit.  To apply it to qubit k in an n-qubit system,
we build the full 2ⁿ×2ⁿ operator via Kronecker products: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Full operator  =  I ⊗ … ⊗ Gₖ ⊗ … ⊗ I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024" y="2582840"/>
            <a:ext cx="5192973" cy="347676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6904" y="2692568"/>
            <a:ext cx="4942379" cy="32316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def _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single_qubit_op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(self, gate, qubit):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# Lift 2x2 gate to full 2^n x 2^n operator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op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np.array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([[1.0+0j]])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in range(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self.num_qubits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op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np.kron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(op, gate if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== qubit else I2)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return op</a:t>
            </a:r>
          </a:p>
          <a:p>
            <a:pPr algn="l"/>
            <a:endParaRPr sz="12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def _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controlled_op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(self, ctrl,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tgt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, gate):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# CNOT-style: P0_ctrl x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I_tgt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 +  P1_ctrl x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gate_tgt</a:t>
            </a:r>
            <a:endParaRPr sz="12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def build(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proj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,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tgt_mat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op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np.array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([[1.0+0j]])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for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in range(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self.num_qubits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    if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== ctrl:   op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np.kron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(op,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proj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   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elif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==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tgt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:  op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np.kron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(op,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tgt_mat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    else:           op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np.kron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(op, I2)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return op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return build(P0, I2) + build(P1, gate)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Calibri"/>
              </a:rPr>
              <a:t>P0 = |0⟩⟨0|  projects onto the |0⟩ subspace.   P1 = |1⟩⟨1|  projects onto |1⟩.   Their sum P0+P1 = 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Simulator: Measurement (The Born Rule)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8BDF8"/>
                </a:solidFill>
                <a:latin typeface="Calibri"/>
              </a:rPr>
              <a:t>Born Rule:</a:t>
            </a:r>
          </a:p>
          <a:p>
            <a:pPr algn="l"/>
            <a:r>
              <a:rPr sz="2000" b="0" i="0" dirty="0">
                <a:solidFill>
                  <a:srgbClr val="F8FAFC"/>
                </a:solidFill>
                <a:latin typeface="Calibri"/>
              </a:rPr>
              <a:t>  P(outcome = 0) = Σ |amplitude|²</a:t>
            </a:r>
          </a:p>
          <a:p>
            <a:pPr algn="l"/>
            <a:r>
              <a:rPr sz="2000" b="0" i="0" dirty="0">
                <a:solidFill>
                  <a:srgbClr val="F8FAFC"/>
                </a:solidFill>
                <a:latin typeface="Calibri"/>
              </a:rPr>
              <a:t>  summed over all states where</a:t>
            </a:r>
          </a:p>
          <a:p>
            <a:pPr algn="l"/>
            <a:r>
              <a:rPr sz="2000" b="0" i="0" dirty="0">
                <a:solidFill>
                  <a:srgbClr val="F8FAFC"/>
                </a:solidFill>
                <a:latin typeface="Calibri"/>
              </a:rPr>
              <a:t>  that qubit is 0.</a:t>
            </a:r>
          </a:p>
          <a:p>
            <a:pPr algn="l"/>
            <a:endParaRPr sz="20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000" b="1" i="0" dirty="0">
                <a:solidFill>
                  <a:srgbClr val="38BDF8"/>
                </a:solidFill>
                <a:latin typeface="Calibri"/>
              </a:rPr>
              <a:t>After measuring outcome r: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1. Zero out all amplitudes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   inconsistent with r.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2. Renormalize (divide by √norm).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3. State has collapsed.</a:t>
            </a:r>
          </a:p>
          <a:p>
            <a:pPr algn="l"/>
            <a:endParaRPr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000" b="1" i="0" dirty="0">
                <a:solidFill>
                  <a:srgbClr val="FBBF24"/>
                </a:solidFill>
                <a:latin typeface="Calibri"/>
              </a:rPr>
              <a:t>This is IRREVERSIBLE —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measurement is the only non-unitary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operation in quantum mechanics.</a:t>
            </a:r>
          </a:p>
          <a:p>
            <a:pPr algn="l"/>
            <a:endParaRPr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94A3B8"/>
                </a:solidFill>
                <a:latin typeface="Calibri"/>
              </a:rPr>
              <a:t>sample() draws many outcomes</a:t>
            </a:r>
          </a:p>
          <a:p>
            <a:pPr algn="l"/>
            <a:r>
              <a:rPr sz="1600" b="0" i="0" dirty="0">
                <a:solidFill>
                  <a:srgbClr val="94A3B8"/>
                </a:solidFill>
                <a:latin typeface="Calibri"/>
              </a:rPr>
              <a:t>WITHOUT collapsing the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751" y="1371600"/>
            <a:ext cx="6141493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71632" y="1481328"/>
            <a:ext cx="5486400" cy="4992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def measure(self, qubit):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probs =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np.abs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) ** 2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n     =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self.num_qubits</a:t>
            </a:r>
            <a:endParaRPr sz="1500" b="0" i="0" dirty="0">
              <a:solidFill>
                <a:srgbClr val="38BDF8"/>
              </a:solidFill>
              <a:latin typeface="Consolas"/>
            </a:endParaRPr>
          </a:p>
          <a:p>
            <a:pPr algn="l"/>
            <a:endParaRPr sz="15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# Probability of |0&gt; on this qubit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prob_0 = sum(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    probs[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] for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in range(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self._dim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)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    if not ((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&gt;&gt; (n - 1 - qubit)) &amp; 1)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)</a:t>
            </a:r>
          </a:p>
          <a:p>
            <a:pPr algn="l"/>
            <a:endParaRPr sz="15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# Sample the outcome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result = 0 if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np.random.random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() &lt; prob_0 else 1</a:t>
            </a:r>
          </a:p>
          <a:p>
            <a:pPr algn="l"/>
            <a:endParaRPr sz="15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# Project + renormalize (state collapse)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new_state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=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np.zeros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self._dim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,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dtype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=complex)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in range(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self._dim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):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    if ((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&gt;&gt; (n-1-qubit)) &amp; 1) == result: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       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new_state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[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] =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[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]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self.state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=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new_state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 / 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np.linalg.norm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500" b="0" i="0" dirty="0" err="1">
                <a:solidFill>
                  <a:srgbClr val="38BDF8"/>
                </a:solidFill>
                <a:latin typeface="Consolas"/>
              </a:rPr>
              <a:t>new_state</a:t>
            </a:r>
            <a:r>
              <a:rPr sz="1500" b="0" i="0" dirty="0">
                <a:solidFill>
                  <a:srgbClr val="38BDF8"/>
                </a:solidFill>
                <a:latin typeface="Consolas"/>
              </a:rPr>
              <a:t>)</a:t>
            </a:r>
          </a:p>
          <a:p>
            <a:pPr algn="l"/>
            <a:r>
              <a:rPr sz="1500" b="0" i="0" dirty="0">
                <a:solidFill>
                  <a:srgbClr val="38BDF8"/>
                </a:solidFill>
                <a:latin typeface="Consolas"/>
              </a:rPr>
              <a:t>    return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Bell States — Maximally Entangled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Calibri"/>
              </a:rPr>
              <a:t>Circuit:  H(q₀)  →  CNOT(q₀, q₁)  →  |Φ+⟩ = (|00⟩ + |11⟩) / √2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120640" cy="3072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q0: -[H]-[*]-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q1: --------(+)-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State vector after circuit: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|00&gt; : +0.7071   prob = 0.5000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|11&gt; : +0.7071   prob = 0.5000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Sampling 1000 shots: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{'00': 484, '11': 516}   &lt;- never 01 or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38BDF8"/>
                </a:solidFill>
                <a:latin typeface="Calibri"/>
              </a:rPr>
              <a:t>Four Bell states: </a:t>
            </a:r>
            <a:r>
              <a:rPr sz="2000" b="0" i="0">
                <a:solidFill>
                  <a:srgbClr val="F8FAFC"/>
                </a:solidFill>
                <a:latin typeface="Calibri"/>
              </a:rPr>
              <a:t>|Φ+⟩ |Φ-⟩ |Ψ+⟩ |Ψ-⟩  —  form a complete orthonormal basis for 2-qubit Hilbert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Calibri"/>
              </a:rPr>
              <a:t>Entanglement means:</a:t>
            </a:r>
          </a:p>
          <a:p>
            <a:pPr algn="l"/>
            <a:endParaRPr sz="2200" b="1" i="0">
              <a:solidFill>
                <a:srgbClr val="38BDF8"/>
              </a:solidFill>
              <a:latin typeface="Calibri"/>
            </a:endParaRP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•  Measuring q₀ instantly determines q₁.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•  No classical correlation explains this.</a:t>
            </a:r>
          </a:p>
          <a:p>
            <a:pPr algn="l"/>
            <a:r>
              <a:rPr sz="2100" b="0" i="0">
                <a:solidFill>
                  <a:srgbClr val="F8FAFC"/>
                </a:solidFill>
                <a:latin typeface="Calibri"/>
              </a:rPr>
              <a:t>•  Neither qubit has a definite state alone.</a:t>
            </a:r>
          </a:p>
          <a:p>
            <a:pPr algn="l"/>
            <a:endParaRPr sz="21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Reduced density matrix of either</a:t>
            </a: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qubit = maximally mixed state.</a:t>
            </a:r>
          </a:p>
          <a:p>
            <a:pPr algn="l"/>
            <a:endParaRPr sz="1900" b="0" i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800" b="1" i="0">
                <a:solidFill>
                  <a:srgbClr val="94A3B8"/>
                </a:solidFill>
                <a:latin typeface="Calibri"/>
              </a:rPr>
              <a:t>Einstein: “spooky action at a distance.”</a:t>
            </a:r>
          </a:p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Bell (1964): it’s real, not hidden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Quantum Teleportation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5778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Goal: </a:t>
            </a:r>
            <a:r>
              <a:rPr b="0" i="0" dirty="0">
                <a:solidFill>
                  <a:srgbClr val="F8FAFC"/>
                </a:solidFill>
                <a:latin typeface="Calibri"/>
              </a:rPr>
              <a:t>transfer unknown qubit state
  from Alice to Bob.</a:t>
            </a:r>
          </a:p>
          <a:p>
            <a:pPr algn="l"/>
            <a:endParaRPr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Resource: </a:t>
            </a:r>
            <a:r>
              <a:rPr b="0" i="0" dirty="0">
                <a:solidFill>
                  <a:srgbClr val="F8FAFC"/>
                </a:solidFill>
                <a:latin typeface="Calibri"/>
              </a:rPr>
              <a:t>shared Bell pair.</a:t>
            </a:r>
          </a:p>
          <a:p>
            <a:pPr algn="l"/>
            <a:endParaRPr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Protocol: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1. Alice performs Bell measurement
   on her message qubit + her half
   of the Bell pair.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2. Alice sends 2 classical bits to Bob.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3. Bob applies X and/or Z corrections.</a:t>
            </a:r>
          </a:p>
          <a:p>
            <a:pPr algn="l"/>
            <a:r>
              <a:rPr sz="1600" b="0" i="0" dirty="0">
                <a:solidFill>
                  <a:srgbClr val="34D399"/>
                </a:solidFill>
                <a:latin typeface="Calibri"/>
              </a:rPr>
              <a:t>   Bob's qubit = Alice's original state.</a:t>
            </a:r>
          </a:p>
          <a:p>
            <a:pPr algn="l"/>
            <a:endParaRPr sz="1600" b="0" i="0" dirty="0">
              <a:solidFill>
                <a:srgbClr val="34D399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FBBF24"/>
                </a:solidFill>
                <a:latin typeface="Calibri"/>
              </a:rPr>
              <a:t>Key facts: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• State is DESTROYED at Alice's end.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• No faster-than-light communication.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• No-cloning theorem not violated.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17320"/>
            <a:ext cx="55778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27048"/>
            <a:ext cx="521208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Teleporting |0&gt;: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classical bits = (0, 1)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Bob P(|0&gt;) = 1.000   P(|1&gt;) = 0.000   [OK]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Teleporting |1&gt;: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classical bits = (0, 0)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Bob P(|0&gt;) = 0.000   P(|1&gt;) = 1.000   [OK]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Teleporting |+&gt; = (|0&gt;+|1&gt;)/√2: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classical bits = (0, 0)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Bob P(|0&gt;) = 0.500   P(|1&gt;) = 0.500   [OK]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Teleporting |-&gt; = (|0&gt;-|1&gt;)/√2: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classical bits = (1, 0)</a:t>
            </a: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  Bob P(|0&gt;) = 0.500   P(|1&gt;) = 0.500   [OK]</a:t>
            </a:r>
          </a:p>
          <a:p>
            <a:pPr algn="l"/>
            <a:endParaRPr sz="1500" b="0" i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500" b="0" i="0">
                <a:solidFill>
                  <a:srgbClr val="38BDF8"/>
                </a:solidFill>
                <a:latin typeface="Consolas"/>
              </a:rPr>
              <a:t>--&gt; Bob always recovers the original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Deutsch-Jozsa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38BDF8"/>
                </a:solidFill>
                <a:latin typeface="Calibri"/>
              </a:rPr>
              <a:t>Problem: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Given black-box f: {0,1}ⁿ → {0,1}, determine if f is </a:t>
            </a:r>
            <a:r>
              <a:rPr sz="2100" b="1" i="0">
                <a:solidFill>
                  <a:srgbClr val="FBBF24"/>
                </a:solidFill>
                <a:latin typeface="Calibri"/>
              </a:rPr>
              <a:t>CONSTANT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 (same output for all inputs) or </a:t>
            </a:r>
            <a:r>
              <a:rPr sz="2100" b="1" i="0">
                <a:solidFill>
                  <a:srgbClr val="34D399"/>
                </a:solidFill>
                <a:latin typeface="Calibri"/>
              </a:rPr>
              <a:t>BALANCED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 (0 for half, 1 for other half).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53035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94A3B8"/>
                </a:solidFill>
                <a:latin typeface="Calibri"/>
              </a:rPr>
              <a:t>Classical worst case:</a:t>
            </a:r>
          </a:p>
          <a:p>
            <a:pPr algn="l"/>
            <a:r>
              <a:rPr sz="2000" b="1" i="0" dirty="0">
                <a:solidFill>
                  <a:srgbClr val="FBBF24"/>
                </a:solidFill>
                <a:latin typeface="Calibri"/>
              </a:rPr>
              <a:t>  2ⁿ⁻¹ + 1 queries</a:t>
            </a:r>
          </a:p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  (n=8: up to 129 queries)</a:t>
            </a:r>
          </a:p>
          <a:p>
            <a:pPr algn="l"/>
            <a:endParaRPr sz="1400" b="0" i="0" dirty="0">
              <a:solidFill>
                <a:srgbClr val="94A3B8"/>
              </a:solidFill>
              <a:latin typeface="Calibri"/>
            </a:endParaRPr>
          </a:p>
          <a:p>
            <a:pPr algn="l"/>
            <a:r>
              <a:rPr b="0" i="0" dirty="0">
                <a:solidFill>
                  <a:srgbClr val="94A3B8"/>
                </a:solidFill>
                <a:latin typeface="Calibri"/>
              </a:rPr>
              <a:t>Quantum:</a:t>
            </a:r>
          </a:p>
          <a:p>
            <a:pPr algn="l"/>
            <a:r>
              <a:rPr sz="2000" b="1" i="0" dirty="0">
                <a:solidFill>
                  <a:srgbClr val="34D399"/>
                </a:solidFill>
                <a:latin typeface="Calibri"/>
              </a:rPr>
              <a:t>  1 query.  Always.</a:t>
            </a:r>
          </a:p>
          <a:p>
            <a:pPr algn="l"/>
            <a:r>
              <a:rPr b="1" i="0" dirty="0">
                <a:solidFill>
                  <a:srgbClr val="34D399"/>
                </a:solidFill>
                <a:latin typeface="Calibri"/>
              </a:rPr>
              <a:t>  Exponential speedup!</a:t>
            </a:r>
          </a:p>
          <a:p>
            <a:pPr algn="l"/>
            <a:endParaRPr b="1" i="0" dirty="0">
              <a:solidFill>
                <a:srgbClr val="34D399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Mechanism: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Phase kickback trick: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ancilla in |−⟩ = (|0⟩-|1⟩)/√2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oracle encodes f as a phase:</a:t>
            </a:r>
          </a:p>
          <a:p>
            <a:pPr algn="l"/>
            <a:r>
              <a:rPr sz="1600" b="0" i="0" dirty="0">
                <a:solidFill>
                  <a:srgbClr val="38BDF8"/>
                </a:solidFill>
                <a:latin typeface="Calibri"/>
              </a:rPr>
              <a:t>  |x⟩|−⟩ → (-1)^f(x)|x⟩|−⟩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Hadamard creates interference.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All zeros → constant. Any 1 → balanced.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18166" y="2514600"/>
            <a:ext cx="6786154" cy="4069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1046" y="2624328"/>
            <a:ext cx="6445995" cy="39703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def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deutsch_jozsa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(n, oracle):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qc =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QuantumCircuit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 + 1)    # n input + ancilla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qc.x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(n);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(n)              # ancilla -&gt; |-&gt;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 in range(n):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   # uniform superposition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if oracle == 'constant_1':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qc.x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(n)       # f=1 everywhere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elif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 oracle == 'balanced': qc.cx(0, n)   # f(x) = x_0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 in range(n):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   # interference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results = [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qc.measure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 for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 in range(n)]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# all zeros -&gt; constant,  any 1 -&gt; balanced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Demo results (n=8, classical worst case = 129):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oracle=constant_0   measured=[0,0,0,0,0,0,0,0]  CONSTANT [OK]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oracle=constant_1   measured=[0,0,0,0,0,0,0,0]  CONSTANT [OK]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oracle=balanced     measured=[1,0,0,0,0,0,0,0]  BALANCED [OK]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Bernstein-Vazirani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38BDF8"/>
                </a:solidFill>
                <a:latin typeface="Calibri"/>
              </a:rPr>
              <a:t>Problem: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There is a hidden n-bit string </a:t>
            </a:r>
            <a:r>
              <a:rPr sz="2100" b="1" i="1">
                <a:solidFill>
                  <a:srgbClr val="FBBF24"/>
                </a:solidFill>
                <a:latin typeface="Calibri"/>
              </a:rPr>
              <a:t>s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.  You can query </a:t>
            </a:r>
            <a:r>
              <a:rPr sz="2100" b="1" i="0">
                <a:solidFill>
                  <a:srgbClr val="FBBF24"/>
                </a:solidFill>
                <a:latin typeface="Calibri"/>
              </a:rPr>
              <a:t>f(x) = s·x (mod 2)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.  Find </a:t>
            </a:r>
            <a:r>
              <a:rPr sz="2100" b="1" i="1">
                <a:solidFill>
                  <a:srgbClr val="FBBF24"/>
                </a:solidFill>
                <a:latin typeface="Calibri"/>
              </a:rPr>
              <a:t>s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53035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4A3B8"/>
                </a:solidFill>
                <a:latin typeface="Calibri"/>
              </a:rPr>
              <a:t>Classical:</a:t>
            </a:r>
          </a:p>
          <a:p>
            <a:pPr algn="l"/>
            <a:r>
              <a:rPr sz="2400" b="1" i="0" dirty="0">
                <a:solidFill>
                  <a:srgbClr val="FBBF24"/>
                </a:solidFill>
                <a:latin typeface="Calibri"/>
              </a:rPr>
              <a:t>  n queries (one per bit)</a:t>
            </a:r>
          </a:p>
          <a:p>
            <a:pPr algn="l"/>
            <a:endParaRPr sz="2400" b="1" i="0" dirty="0">
              <a:solidFill>
                <a:srgbClr val="FBBF24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94A3B8"/>
                </a:solidFill>
                <a:latin typeface="Calibri"/>
              </a:rPr>
              <a:t>Quantum:</a:t>
            </a:r>
          </a:p>
          <a:p>
            <a:pPr algn="l"/>
            <a:r>
              <a:rPr sz="2400" b="1" i="0" dirty="0">
                <a:solidFill>
                  <a:srgbClr val="34D399"/>
                </a:solidFill>
                <a:latin typeface="Calibri"/>
              </a:rPr>
              <a:t>  1 query.  Linear speedup!</a:t>
            </a:r>
          </a:p>
          <a:p>
            <a:pPr algn="l"/>
            <a:endParaRPr sz="2400" b="1" i="0" dirty="0">
              <a:solidFill>
                <a:srgbClr val="34D399"/>
              </a:solidFill>
              <a:latin typeface="Calibri"/>
            </a:endParaRPr>
          </a:p>
          <a:p>
            <a:pPr algn="l"/>
            <a:r>
              <a:rPr sz="2000" b="1" i="0" dirty="0">
                <a:solidFill>
                  <a:srgbClr val="38BDF8"/>
                </a:solidFill>
                <a:latin typeface="Calibri"/>
              </a:rPr>
              <a:t>Why it works: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Same phase kickback as D-J.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After one oracle call +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Hadamard, state collapses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directly to |s⟩.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Measurement reads out s.</a:t>
            </a:r>
          </a:p>
          <a:p>
            <a:pPr algn="l"/>
            <a:r>
              <a:rPr b="0" i="0" dirty="0">
                <a:solidFill>
                  <a:srgbClr val="F8FAFC"/>
                </a:solidFill>
                <a:latin typeface="Calibri"/>
              </a:rPr>
              <a:t>  Deterministic — no randomness.</a:t>
            </a:r>
            <a:endParaRPr sz="2000" b="0" i="0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0" y="2514600"/>
            <a:ext cx="5669280" cy="383160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2624328"/>
            <a:ext cx="5367175" cy="36009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def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bernstein_vazirani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(secret):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n 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len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(secret)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qc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QuantumCircuit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(n + 1)</a:t>
            </a:r>
          </a:p>
          <a:p>
            <a:pPr algn="l"/>
            <a:endParaRPr sz="12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qc.x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(n);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(n)              # ancilla -&gt; |-&gt;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in range(n):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   # uniform superposition</a:t>
            </a:r>
          </a:p>
          <a:p>
            <a:pPr algn="l"/>
            <a:endParaRPr sz="12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# Oracle: f(x) =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s·x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 mod 2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, bit in enumerate(secret):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if bit == '1':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        qc.cx(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, n)           # CNOT for each 1-bit in s</a:t>
            </a:r>
          </a:p>
          <a:p>
            <a:pPr algn="l"/>
            <a:endParaRPr sz="12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in range(n):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   # collapse to |s&gt;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  recovered = ''.join(str(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qc.measure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)) for </a:t>
            </a:r>
            <a:r>
              <a:rPr sz="12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200" b="0" i="0" dirty="0">
                <a:solidFill>
                  <a:srgbClr val="38BDF8"/>
                </a:solidFill>
                <a:latin typeface="Consolas"/>
              </a:rPr>
              <a:t> in range(n))</a:t>
            </a:r>
          </a:p>
          <a:p>
            <a:pPr algn="l"/>
            <a:endParaRPr sz="12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Demo results (1 query each):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secret='101'       recovered='101'       [OK]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secret='11001'     recovered='11001'     [OK]</a:t>
            </a:r>
          </a:p>
          <a:p>
            <a:pPr algn="l"/>
            <a:r>
              <a:rPr sz="1200" b="0" i="0" dirty="0">
                <a:solidFill>
                  <a:srgbClr val="38BDF8"/>
                </a:solidFill>
                <a:latin typeface="Consolas"/>
              </a:rPr>
              <a:t>  secret='01101001'  recovered='01101001'  [OK]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Grover's Search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38BDF8"/>
                </a:solidFill>
                <a:latin typeface="Calibri"/>
              </a:rPr>
              <a:t>Problem: </a:t>
            </a:r>
            <a:r>
              <a:rPr sz="2100" b="0" i="0">
                <a:solidFill>
                  <a:srgbClr val="F8FAFC"/>
                </a:solidFill>
                <a:latin typeface="Calibri"/>
              </a:rPr>
              <a:t>Find a single marked item in an unsorted database of N = 2ⁿ items.</a:t>
            </a:r>
          </a:p>
          <a:p>
            <a:r>
              <a:rPr sz="2100" b="0" i="0">
                <a:solidFill>
                  <a:srgbClr val="F8FAFC"/>
                </a:solidFill>
                <a:latin typeface="Calibri"/>
              </a:rPr>
              <a:t>Classical: O(N) average.   Grover’s: O(√N).   </a:t>
            </a:r>
            <a:r>
              <a:rPr sz="2100" b="1" i="0">
                <a:solidFill>
                  <a:srgbClr val="34D399"/>
                </a:solidFill>
                <a:latin typeface="Calibri"/>
              </a:rPr>
              <a:t>Quadratic speedup — provably optimal.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1206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Mechanism:</a:t>
            </a:r>
          </a:p>
          <a:p>
            <a:pPr algn="l"/>
            <a:endParaRPr b="1" i="0" dirty="0">
              <a:solidFill>
                <a:srgbClr val="38BDF8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1. Initialize uniform superposition.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 Every item has amplitude 1/√N.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600" b="1" i="0" dirty="0">
                <a:solidFill>
                  <a:srgbClr val="38BDF8"/>
                </a:solidFill>
                <a:latin typeface="Calibri"/>
              </a:rPr>
              <a:t>2. Phase oracle: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 Flip sign of marked amplitude.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 —target goes from 1/√N to −1/√N.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600" b="1" i="0" dirty="0">
                <a:solidFill>
                  <a:srgbClr val="38BDF8"/>
                </a:solidFill>
                <a:latin typeface="Calibri"/>
              </a:rPr>
              <a:t>3. Grover diffusion (2|ψ⟩⟨ψ| − I):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 Reflect amplitudes about the mean.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 Target (below mean) → above mean.</a:t>
            </a: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   Other items barely change.</a:t>
            </a:r>
          </a:p>
          <a:p>
            <a:pPr algn="l"/>
            <a:endParaRPr sz="1600" b="0" i="0" dirty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F8FAFC"/>
                </a:solidFill>
                <a:latin typeface="Calibri"/>
              </a:rPr>
              <a:t>4. Repeat ≈ π/4 × √N times.</a:t>
            </a:r>
          </a:p>
          <a:p>
            <a:pPr algn="l"/>
            <a:r>
              <a:rPr sz="1600" b="1" i="0" dirty="0">
                <a:solidFill>
                  <a:srgbClr val="34D399"/>
                </a:solidFill>
                <a:latin typeface="Calibri"/>
              </a:rPr>
              <a:t>   Target amplitude ≈ 1.  Measure.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2377440"/>
            <a:ext cx="6035040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2487168"/>
            <a:ext cx="5669280" cy="3986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def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grover_search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(target,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n_qubits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):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N    = 2 **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n_qubits</a:t>
            </a:r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iters = round(π/4 * √N)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qc   =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QuantumCircuit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n_qubits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for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 in range(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n_qubits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):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qc.h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  # |+...+&gt;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uniform =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np.ones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(N,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dtype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=complex) /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np.sqrt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(N)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for _ in range(iters):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    # Phase oracle: flip marked amplitude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   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qc.state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[target] *= -1</a:t>
            </a: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    # Grover diffusion: 2|ψ&gt;&lt;ψ| - I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    overlap     = np.dot(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uniform.conj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(),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qc.state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)</a:t>
            </a: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   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qc.state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    = 2 * overlap * uniform -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qc.state</a:t>
            </a:r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endParaRPr sz="1400" b="0" i="0" dirty="0">
              <a:solidFill>
                <a:srgbClr val="38BDF8"/>
              </a:solidFill>
              <a:latin typeface="Consolas"/>
            </a:endParaRPr>
          </a:p>
          <a:p>
            <a:pPr algn="l"/>
            <a:r>
              <a:rPr sz="1400" b="0" i="0" dirty="0">
                <a:solidFill>
                  <a:srgbClr val="38BDF8"/>
                </a:solidFill>
                <a:latin typeface="Consolas"/>
              </a:rPr>
              <a:t>    return </a:t>
            </a:r>
            <a:r>
              <a:rPr sz="1400" b="0" i="0" dirty="0" err="1">
                <a:solidFill>
                  <a:srgbClr val="38BDF8"/>
                </a:solidFill>
                <a:latin typeface="Consolas"/>
              </a:rPr>
              <a:t>qc.sample</a:t>
            </a:r>
            <a:r>
              <a:rPr sz="1400" b="0" i="0" dirty="0">
                <a:solidFill>
                  <a:srgbClr val="38BDF8"/>
                </a:solidFill>
                <a:latin typeface="Consolas"/>
              </a:rPr>
              <a:t>(shots=1024)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Grover’s Search —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658368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0876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50876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Iterations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50876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Classical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50876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8"/>
            <a:ext cx="1143000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8541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8 items (3 qubits)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85416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|101⟩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85416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BBF2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85416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185416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D399"/>
                </a:solidFill>
                <a:latin typeface="Calibri"/>
              </a:rPr>
              <a:t>95.3%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88336"/>
            <a:ext cx="11430000" cy="65836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8437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16 items (4 qubits)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843784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|1011⟩ =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843784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BBF24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4378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84378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D399"/>
                </a:solidFill>
                <a:latin typeface="Calibri"/>
              </a:rPr>
              <a:t>96.1%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46704"/>
            <a:ext cx="1143000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5021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32 items (5 qubits)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02152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|10111⟩ = 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0215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502152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50215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D399"/>
                </a:solidFill>
                <a:latin typeface="Calibri"/>
              </a:rPr>
              <a:t>99.9%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05072"/>
            <a:ext cx="11430000" cy="65836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64 items (6 qubits)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16052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|101111⟩ = 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6052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BBF24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6052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16052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D399"/>
                </a:solidFill>
                <a:latin typeface="Calibri"/>
              </a:rPr>
              <a:t>99.7%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63440"/>
            <a:ext cx="1143000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81888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256 items (8 qubits)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818888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|11001000⟩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81888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BBF24"/>
                </a:solidFill>
                <a:latin typeface="Calibri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81888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128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481888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D399"/>
                </a:solidFill>
                <a:latin typeface="Calibri"/>
              </a:rPr>
              <a:t>98.7%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F8FAFC"/>
                </a:solidFill>
                <a:latin typeface="Calibri"/>
              </a:rPr>
              <a:t>Grover’s is provably </a:t>
            </a:r>
            <a:r>
              <a:rPr b="1" i="0" dirty="0">
                <a:solidFill>
                  <a:srgbClr val="34D399"/>
                </a:solidFill>
                <a:latin typeface="Calibri"/>
              </a:rPr>
              <a:t>optimal </a:t>
            </a:r>
            <a:r>
              <a:rPr b="0" i="0" dirty="0">
                <a:solidFill>
                  <a:srgbClr val="F8FAFC"/>
                </a:solidFill>
                <a:latin typeface="Calibri"/>
              </a:rPr>
              <a:t>for unstructured search.  Applications: breaking symmetric cryptography (AES-128 → “64-bit equivalent”
under quantum attack), optimization subroutines, collision finding in hash functions.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52144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30000" cy="6858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819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819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Classical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8191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8191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Speedup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11430000" cy="685800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Deutsch-Jozsa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677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Constant vs balanced?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677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2ⁿ⁻¹+1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6771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1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6771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Exponential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114300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9535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Bernstein-Vazirani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535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Find hidden string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535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n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95351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1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95351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Linear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11430000" cy="685800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393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Grover’s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6393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Unsorted search (N items)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6393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O(N)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63931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O(√N)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63931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Quadratic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60520"/>
            <a:ext cx="114300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3251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Teleportation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3251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Transfer qubit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25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Impossible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32511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Calibri"/>
              </a:rPr>
              <a:t>Bell + 2 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32511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N/A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83480"/>
            <a:ext cx="114300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38BDF8"/>
                </a:solidFill>
                <a:latin typeface="Calibri"/>
              </a:rPr>
              <a:t>What this simulator proves: </a:t>
            </a:r>
            <a:r>
              <a:rPr sz="2000" b="0" i="0">
                <a:solidFill>
                  <a:srgbClr val="F8FAFC"/>
                </a:solidFill>
                <a:latin typeface="Calibri"/>
              </a:rPr>
              <a:t>the algorithms are correct because the underlying math is correct — complex vector spaces,
unitary evolution, and the Born rule are the right model for quantum systems.</a:t>
            </a:r>
          </a:p>
          <a:p>
            <a:pPr>
              <a:spcBef>
                <a:spcPts val="800"/>
              </a:spcBef>
            </a:pPr>
            <a:r>
              <a:rPr sz="1900" b="1" i="0">
                <a:solidFill>
                  <a:srgbClr val="38BDF8"/>
                </a:solidFill>
                <a:latin typeface="Calibri"/>
              </a:rPr>
              <a:t>Code: </a:t>
            </a:r>
            <a:r>
              <a:rPr sz="1900" b="0" i="0">
                <a:solidFill>
                  <a:srgbClr val="F8FAFC"/>
                </a:solidFill>
                <a:latin typeface="Calibri"/>
              </a:rPr>
              <a:t>quantum_computer.py  •  algorithms.py  •  demo.py   •  ~550 lines  •  numpy only  •  </a:t>
            </a:r>
            <a:r>
              <a:rPr sz="1900" b="1" i="0">
                <a:solidFill>
                  <a:srgbClr val="38BDF8"/>
                </a:solidFill>
                <a:latin typeface="Consolas"/>
              </a:rPr>
              <a:t>python demo.py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3049</Words>
  <Application>Microsoft Office PowerPoint</Application>
  <PresentationFormat>Custom</PresentationFormat>
  <Paragraphs>427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Trinh</cp:lastModifiedBy>
  <cp:revision>3</cp:revision>
  <dcterms:created xsi:type="dcterms:W3CDTF">2013-01-27T09:14:16Z</dcterms:created>
  <dcterms:modified xsi:type="dcterms:W3CDTF">2026-05-14T16:41:29Z</dcterms:modified>
  <cp:category/>
</cp:coreProperties>
</file>